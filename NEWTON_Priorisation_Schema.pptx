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Ordre d'implémentation des modules NEWTON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200" b="0">
                <a:solidFill>
                  <a:srgbClr val="A0B8D8"/>
                </a:solidFill>
                <a:latin typeface="Calibri"/>
              </a:defRPr>
            </a:pPr>
            <a:r>
              <a:t>Pourquoi ne pas commencer par Sir Izaac et Vector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7A8EAE"/>
                </a:solidFill>
                <a:latin typeface="Calibri"/>
              </a:defRPr>
            </a:pPr>
            <a:r>
              <a:t>Projet NEWTON  |  Analyse comparative des approches de priorisation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5A6E8E"/>
                </a:solidFill>
                <a:latin typeface="Calibri"/>
              </a:defRPr>
            </a:pPr>
            <a:r>
              <a:t>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Deux approches possibles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286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E0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029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APPROCHE A  —  Sir Izaac + Vector d'abord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949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2011680"/>
            <a:ext cx="320040" cy="3200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Pipeline 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6712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Fondation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E0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560320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04B4B"/>
                </a:solidFill>
                <a:latin typeface="Calibri"/>
              </a:defRPr>
            </a:pPr>
            <a:r>
              <a:t>Sir Izaac + Vector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6148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Chatbot + Graphiques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00400"/>
            <a:ext cx="320040" cy="3200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54680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Sherlock + Optica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35584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Détection + Alertes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794759"/>
            <a:ext cx="320040" cy="3200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49039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Gravity + Calculus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50207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Prédiction + Économies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389120"/>
            <a:ext cx="320040" cy="3200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43400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Hannah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4456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Pilotage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404872"/>
            <a:ext cx="27432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999232"/>
            <a:ext cx="27432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593592"/>
            <a:ext cx="27432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87952"/>
            <a:ext cx="27432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5488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4663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ts val="1200"/>
              </a:lnSpc>
              <a:spcAft>
                <a:spcPts val="600"/>
              </a:spcAft>
            </a:pPr>
            <a:r>
              <a:rPr sz="1000" b="1">
                <a:solidFill>
                  <a:srgbClr val="E04B4B"/>
                </a:solidFill>
                <a:latin typeface="Calibri"/>
              </a:rPr>
              <a:t>✖  </a:t>
            </a:r>
            <a:r>
              <a:rPr sz="1000">
                <a:solidFill>
                  <a:srgbClr val="7F1D1D"/>
                </a:solidFill>
                <a:latin typeface="Calibri"/>
              </a:rPr>
              <a:t>Chatbot sans intelligence derrière (pas de détection, pas de prédiction)</a:t>
            </a: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sz="1000" b="1">
                <a:solidFill>
                  <a:srgbClr val="E04B4B"/>
                </a:solidFill>
                <a:latin typeface="Calibri"/>
              </a:rPr>
              <a:t>✖  </a:t>
            </a:r>
            <a:r>
              <a:rPr sz="1000">
                <a:solidFill>
                  <a:srgbClr val="7F1D1D"/>
                </a:solidFill>
                <a:latin typeface="Calibri"/>
              </a:rPr>
              <a:t>Première impression "gadget" auprès des utilisateurs</a:t>
            </a: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sz="1000" b="1">
                <a:solidFill>
                  <a:srgbClr val="E04B4B"/>
                </a:solidFill>
                <a:latin typeface="Calibri"/>
              </a:rPr>
              <a:t>✖  </a:t>
            </a:r>
            <a:r>
              <a:rPr sz="1000">
                <a:solidFill>
                  <a:srgbClr val="7F1D1D"/>
                </a:solidFill>
                <a:latin typeface="Calibri"/>
              </a:rPr>
              <a:t>Coût API LLM sans valeur ajoutée réelle</a:t>
            </a: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sz="1000" b="1">
                <a:solidFill>
                  <a:srgbClr val="E04B4B"/>
                </a:solidFill>
                <a:latin typeface="Calibri"/>
              </a:rPr>
              <a:t>✖  </a:t>
            </a:r>
            <a:r>
              <a:rPr sz="1000">
                <a:solidFill>
                  <a:srgbClr val="7F1D1D"/>
                </a:solidFill>
                <a:latin typeface="Calibri"/>
              </a:rPr>
              <a:t>Perte de confiance difficile à rattraper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188720"/>
            <a:ext cx="5394960" cy="594360"/>
          </a:xfrm>
          <a:prstGeom prst="roundRect">
            <a:avLst>
              <a:gd name="adj" fmla="val 5000"/>
            </a:avLst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234440"/>
            <a:ext cx="502920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APPROCHE B  —  Sherlock/Optica/Gravity d'abord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828800"/>
            <a:ext cx="5394960" cy="4297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583680" y="2011680"/>
            <a:ext cx="320040" cy="3200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1965960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Pipeline Data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216712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Fondation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2606040"/>
            <a:ext cx="320040" cy="320040"/>
          </a:xfrm>
          <a:prstGeom prst="ellipse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560320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A06A"/>
                </a:solidFill>
                <a:latin typeface="Calibri"/>
              </a:defRPr>
            </a:pPr>
            <a:r>
              <a:t>Sherlock + Optica + Gravity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276148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Détection + Alertes + Prédiction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3200400"/>
            <a:ext cx="320040" cy="320040"/>
          </a:xfrm>
          <a:prstGeom prst="ellipse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154680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A06A"/>
                </a:solidFill>
                <a:latin typeface="Calibri"/>
              </a:defRPr>
            </a:pPr>
            <a:r>
              <a:t>Sir Izaac V1 + Calculus + Vector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35584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Chatbot complet + Économies + Graphiques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3794759"/>
            <a:ext cx="320040" cy="3200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3749039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Britannica + API sortante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3950207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GED + API</a:t>
            </a:r>
          </a:p>
        </p:txBody>
      </p:sp>
      <p:sp>
        <p:nvSpPr>
          <p:cNvPr id="43" name="Oval 42"/>
          <p:cNvSpPr/>
          <p:nvPr/>
        </p:nvSpPr>
        <p:spPr>
          <a:xfrm>
            <a:off x="6583680" y="4389120"/>
            <a:ext cx="320040" cy="320040"/>
          </a:xfrm>
          <a:prstGeom prst="ellipse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343400"/>
            <a:ext cx="4297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Hannah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4544568"/>
            <a:ext cx="4297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Pilotage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2404872"/>
            <a:ext cx="27432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2999232"/>
            <a:ext cx="27432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3593592"/>
            <a:ext cx="27432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4187952"/>
            <a:ext cx="27432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475488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0" y="4846320"/>
            <a:ext cx="46634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ts val="1200"/>
              </a:lnSpc>
              <a:spcAft>
                <a:spcPts val="600"/>
              </a:spcAft>
            </a:pPr>
            <a:r>
              <a:rPr sz="1000" b="1">
                <a:solidFill>
                  <a:srgbClr val="2EA06A"/>
                </a:solidFill>
                <a:latin typeface="Calibri"/>
              </a:rPr>
              <a:t>✔  </a:t>
            </a:r>
            <a:r>
              <a:rPr sz="1000">
                <a:solidFill>
                  <a:srgbClr val="14532D"/>
                </a:solidFill>
                <a:latin typeface="Calibri"/>
              </a:rPr>
              <a:t>Valeur immédiate : alertes et détection dès la mise en service</a:t>
            </a: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sz="1000" b="1">
                <a:solidFill>
                  <a:srgbClr val="2EA06A"/>
                </a:solidFill>
                <a:latin typeface="Calibri"/>
              </a:rPr>
              <a:t>✔  </a:t>
            </a:r>
            <a:r>
              <a:rPr sz="1000">
                <a:solidFill>
                  <a:srgbClr val="14532D"/>
                </a:solidFill>
                <a:latin typeface="Calibri"/>
              </a:rPr>
              <a:t>Sir Izaac arrive avec de vrais outils à appeler</a:t>
            </a: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sz="1000" b="1">
                <a:solidFill>
                  <a:srgbClr val="2EA06A"/>
                </a:solidFill>
                <a:latin typeface="Calibri"/>
              </a:rPr>
              <a:t>✔  </a:t>
            </a:r>
            <a:r>
              <a:rPr sz="1000">
                <a:solidFill>
                  <a:srgbClr val="14532D"/>
                </a:solidFill>
                <a:latin typeface="Calibri"/>
              </a:rPr>
              <a:t>Première impression forte et crédible</a:t>
            </a: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sz="1000" b="1">
                <a:solidFill>
                  <a:srgbClr val="2EA06A"/>
                </a:solidFill>
                <a:latin typeface="Calibri"/>
              </a:rPr>
              <a:t>✔  </a:t>
            </a:r>
            <a:r>
              <a:rPr sz="1000">
                <a:solidFill>
                  <a:srgbClr val="14532D"/>
                </a:solidFill>
                <a:latin typeface="Calibri"/>
              </a:rPr>
              <a:t>Confiance progressive des utilisateurs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80960" y="960120"/>
            <a:ext cx="2560320" cy="274320"/>
          </a:xfrm>
          <a:prstGeom prst="roundRect">
            <a:avLst>
              <a:gd name="adj" fmla="val 5000"/>
            </a:avLst>
          </a:prstGeom>
          <a:solidFill>
            <a:srgbClr val="166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80960" y="960120"/>
            <a:ext cx="2560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APPROCHE RECOMMANDÉE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Le problème fondamental : la chaîne de dépendances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286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500" b="0">
                <a:solidFill>
                  <a:srgbClr val="1E293B"/>
                </a:solidFill>
                <a:latin typeface="Calibri"/>
              </a:defRPr>
            </a:pPr>
            <a:r>
              <a:rPr dirty="0"/>
              <a:t>Quand un </a:t>
            </a:r>
            <a:r>
              <a:rPr dirty="0" err="1"/>
              <a:t>utilisateur</a:t>
            </a:r>
            <a:r>
              <a:rPr dirty="0"/>
              <a:t> </a:t>
            </a:r>
            <a:r>
              <a:rPr dirty="0" err="1"/>
              <a:t>demande</a:t>
            </a:r>
            <a:r>
              <a:rPr dirty="0"/>
              <a:t> au chatbot : « </a:t>
            </a:r>
            <a:r>
              <a:rPr dirty="0" err="1"/>
              <a:t>Pourquoi</a:t>
            </a:r>
            <a:r>
              <a:rPr dirty="0"/>
              <a:t> ma </a:t>
            </a:r>
            <a:r>
              <a:rPr dirty="0" err="1"/>
              <a:t>consommation</a:t>
            </a:r>
            <a:r>
              <a:rPr dirty="0"/>
              <a:t> a </a:t>
            </a:r>
            <a:r>
              <a:rPr dirty="0" err="1"/>
              <a:t>augmenté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février</a:t>
            </a:r>
            <a:r>
              <a:rPr dirty="0"/>
              <a:t> ?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2304288"/>
            <a:ext cx="188366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Sir Izaac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Comprend la question</a:t>
            </a:r>
            <a:br/>
            <a:r>
              <a:t>(LLM + function calling)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606040"/>
            <a:ext cx="228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2860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07208" y="2304288"/>
            <a:ext cx="1883664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42316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Sherlock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4320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Identifie l'anomalie</a:t>
            </a:r>
            <a:br/>
            <a:r>
              <a:t>(Isolation Forest, ML)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06040"/>
            <a:ext cx="228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2860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47488" y="2304288"/>
            <a:ext cx="18836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0640" y="242316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Gravity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74320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Compare avec la</a:t>
            </a:r>
            <a:br/>
            <a:r>
              <a:t>prédiction (Prophet)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606040"/>
            <a:ext cx="228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22860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45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87768" y="2304288"/>
            <a:ext cx="1883664" cy="54864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242316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845EC2"/>
                </a:solidFill>
                <a:latin typeface="Calibri"/>
              </a:defRPr>
            </a:pPr>
            <a:r>
              <a:t>Calculus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74320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Chiffre l'impact</a:t>
            </a:r>
            <a:br/>
            <a:r>
              <a:t>(en € et kWh)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06040"/>
            <a:ext cx="2286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228600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28048" y="2304288"/>
            <a:ext cx="18836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2423160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Vector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743200"/>
            <a:ext cx="1737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Affiche le graphique</a:t>
            </a:r>
            <a:br/>
            <a:r>
              <a:t>(Plotly/Chart.js)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7168" y="2834640"/>
            <a:ext cx="2743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appelle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2834640"/>
            <a:ext cx="2743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appelle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749039"/>
            <a:ext cx="11247120" cy="548640"/>
          </a:xfrm>
          <a:prstGeom prst="roundRect">
            <a:avLst>
              <a:gd name="adj" fmla="val 5000"/>
            </a:avLst>
          </a:prstGeom>
          <a:solidFill>
            <a:srgbClr val="FFFBEB"/>
          </a:solidFill>
          <a:ln w="19050">
            <a:solidFill>
              <a:srgbClr val="F09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3794759"/>
            <a:ext cx="10698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Sans Sherlock, Gravity et Calculus </a:t>
            </a:r>
            <a:r>
              <a:rPr sz="1300" b="0">
                <a:solidFill>
                  <a:srgbClr val="475569"/>
                </a:solidFill>
                <a:latin typeface="Calibri"/>
              </a:rPr>
              <a:t>derrière lui, Sir Izaac ne peut répondre à aucune de ces questions. Il devient un simple outil de consultation de données.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6634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E0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E04B4B"/>
                </a:solidFill>
                <a:latin typeface="Calibri"/>
              </a:defRPr>
            </a:pPr>
            <a:r>
              <a:t>Sir Izaac SANS Sherlock/Gravity/Calculus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74920"/>
            <a:ext cx="50292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ts val="1100"/>
              </a:lnSpc>
              <a:spcAft>
                <a:spcPts val="600"/>
              </a:spcAft>
            </a:pPr>
            <a:r>
              <a:rPr sz="1000" b="1">
                <a:solidFill>
                  <a:srgbClr val="E04B4B"/>
                </a:solidFill>
                <a:latin typeface="Calibri"/>
              </a:rPr>
              <a:t>•  </a:t>
            </a:r>
            <a:r>
              <a:rPr sz="1000">
                <a:solidFill>
                  <a:srgbClr val="7F1D1D"/>
                </a:solidFill>
                <a:latin typeface="Calibri"/>
              </a:rPr>
              <a:t>"Pourquoi ma conso a augmenté ?" → Ne sait pas</a:t>
            </a:r>
          </a:p>
          <a:p>
            <a:pPr>
              <a:lnSpc>
                <a:spcPts val="1100"/>
              </a:lnSpc>
              <a:spcAft>
                <a:spcPts val="600"/>
              </a:spcAft>
            </a:pPr>
            <a:r>
              <a:rPr sz="1000" b="1">
                <a:solidFill>
                  <a:srgbClr val="E04B4B"/>
                </a:solidFill>
                <a:latin typeface="Calibri"/>
              </a:rPr>
              <a:t>•  </a:t>
            </a:r>
            <a:r>
              <a:rPr sz="1000">
                <a:solidFill>
                  <a:srgbClr val="7F1D1D"/>
                </a:solidFill>
                <a:latin typeface="Calibri"/>
              </a:rPr>
              <a:t>"Combien vais-je consommer le mois prochain ?" → Ne sait pas</a:t>
            </a:r>
          </a:p>
          <a:p>
            <a:pPr>
              <a:lnSpc>
                <a:spcPts val="1100"/>
              </a:lnSpc>
              <a:spcAft>
                <a:spcPts val="600"/>
              </a:spcAft>
            </a:pPr>
            <a:r>
              <a:rPr sz="1000" b="1">
                <a:solidFill>
                  <a:srgbClr val="E04B4B"/>
                </a:solidFill>
                <a:latin typeface="Calibri"/>
              </a:rPr>
              <a:t>•  </a:t>
            </a:r>
            <a:r>
              <a:rPr sz="1000">
                <a:solidFill>
                  <a:srgbClr val="7F1D1D"/>
                </a:solidFill>
                <a:latin typeface="Calibri"/>
              </a:rPr>
              <a:t>"Combien j'ai économisé ?" → Ne sait pas</a:t>
            </a:r>
          </a:p>
          <a:p>
            <a:pPr>
              <a:lnSpc>
                <a:spcPts val="1100"/>
              </a:lnSpc>
              <a:spcAft>
                <a:spcPts val="600"/>
              </a:spcAft>
            </a:pPr>
            <a:r>
              <a:rPr sz="1000" b="1">
                <a:solidFill>
                  <a:srgbClr val="E04B4B"/>
                </a:solidFill>
                <a:latin typeface="Calibri"/>
              </a:rPr>
              <a:t>•  </a:t>
            </a:r>
            <a:r>
              <a:rPr sz="1000">
                <a:solidFill>
                  <a:srgbClr val="7F1D1D"/>
                </a:solidFill>
                <a:latin typeface="Calibri"/>
              </a:rPr>
              <a:t>"Montre-moi ma conso" → Graphique basique (= SELECT + Plotly)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6634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12700">
            <a:solidFill>
              <a:srgbClr val="2EA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475488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2EA06A"/>
                </a:solidFill>
                <a:latin typeface="Calibri"/>
              </a:defRPr>
            </a:pPr>
            <a:r>
              <a:t>Sir Izaac AVEC Sherlock/Gravity/Calculus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74920"/>
            <a:ext cx="50292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>
              <a:lnSpc>
                <a:spcPts val="1100"/>
              </a:lnSpc>
              <a:spcAft>
                <a:spcPts val="600"/>
              </a:spcAft>
            </a:pPr>
            <a:r>
              <a:rPr sz="1000" b="1">
                <a:solidFill>
                  <a:srgbClr val="2EA06A"/>
                </a:solidFill>
                <a:latin typeface="Calibri"/>
              </a:rPr>
              <a:t>•  </a:t>
            </a:r>
            <a:r>
              <a:rPr sz="1000">
                <a:solidFill>
                  <a:srgbClr val="14532D"/>
                </a:solidFill>
                <a:latin typeface="Calibri"/>
              </a:rPr>
              <a:t>"Pourquoi ?" → Sherlock a détecté une surconsommation de +23%</a:t>
            </a:r>
          </a:p>
          <a:p>
            <a:pPr>
              <a:lnSpc>
                <a:spcPts val="1100"/>
              </a:lnSpc>
              <a:spcAft>
                <a:spcPts val="600"/>
              </a:spcAft>
            </a:pPr>
            <a:r>
              <a:rPr sz="1000" b="1">
                <a:solidFill>
                  <a:srgbClr val="2EA06A"/>
                </a:solidFill>
                <a:latin typeface="Calibri"/>
              </a:rPr>
              <a:t>•  </a:t>
            </a:r>
            <a:r>
              <a:rPr sz="1000">
                <a:solidFill>
                  <a:srgbClr val="14532D"/>
                </a:solidFill>
                <a:latin typeface="Calibri"/>
              </a:rPr>
              <a:t>"Combien le mois prochain ?" → Gravity prédit 12 450 kWh</a:t>
            </a:r>
          </a:p>
          <a:p>
            <a:pPr>
              <a:lnSpc>
                <a:spcPts val="1100"/>
              </a:lnSpc>
              <a:spcAft>
                <a:spcPts val="600"/>
              </a:spcAft>
            </a:pPr>
            <a:r>
              <a:rPr sz="1000" b="1">
                <a:solidFill>
                  <a:srgbClr val="2EA06A"/>
                </a:solidFill>
                <a:latin typeface="Calibri"/>
              </a:rPr>
              <a:t>•  </a:t>
            </a:r>
            <a:r>
              <a:rPr sz="1000">
                <a:solidFill>
                  <a:srgbClr val="14532D"/>
                </a:solidFill>
                <a:latin typeface="Calibri"/>
              </a:rPr>
              <a:t>"Combien économisé ?" → Calculus: 2 340 € depuis janvier</a:t>
            </a:r>
          </a:p>
          <a:p>
            <a:pPr>
              <a:lnSpc>
                <a:spcPts val="1100"/>
              </a:lnSpc>
              <a:spcAft>
                <a:spcPts val="600"/>
              </a:spcAft>
            </a:pPr>
            <a:r>
              <a:rPr sz="1000" b="1">
                <a:solidFill>
                  <a:srgbClr val="2EA06A"/>
                </a:solidFill>
                <a:latin typeface="Calibri"/>
              </a:rPr>
              <a:t>•  </a:t>
            </a:r>
            <a:r>
              <a:rPr sz="1000">
                <a:solidFill>
                  <a:srgbClr val="14532D"/>
                </a:solidFill>
                <a:latin typeface="Calibri"/>
              </a:rPr>
              <a:t>"Montre-moi" → Vector affiche le graphique contextuel complet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1E293B"/>
                </a:solidFill>
                <a:latin typeface="Calibri"/>
              </a:defRPr>
            </a:pPr>
            <a:r>
              <a:t>Le bon compromis : Sir Izaac V0 en parallèle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2860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2148840"/>
            <a:ext cx="1124712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286000" cy="685800"/>
          </a:xfrm>
          <a:prstGeom prst="roundRect">
            <a:avLst>
              <a:gd name="adj" fmla="val 5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1031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0-1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1031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1031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E0E8F0"/>
                </a:solidFill>
                <a:latin typeface="Calibri"/>
              </a:defRPr>
            </a:pPr>
            <a:r>
              <a:t>Fondation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371600"/>
            <a:ext cx="2743200" cy="685800"/>
          </a:xfrm>
          <a:prstGeom prst="roundRect">
            <a:avLst>
              <a:gd name="adj" fmla="val 5000"/>
            </a:avLst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17520" y="1417320"/>
            <a:ext cx="25603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Sherlock + Optica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828800"/>
            <a:ext cx="25603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E0E8F0"/>
                </a:solidFill>
                <a:latin typeface="Calibri"/>
              </a:defRPr>
            </a:pPr>
            <a:r>
              <a:t>Détection + Alertes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371600"/>
            <a:ext cx="2743200" cy="685800"/>
          </a:xfrm>
          <a:prstGeom prst="roundRect">
            <a:avLst>
              <a:gd name="adj" fmla="val 5000"/>
            </a:avLst>
          </a:prstGeom>
          <a:solidFill>
            <a:srgbClr val="F0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417320"/>
            <a:ext cx="25603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00200"/>
            <a:ext cx="2560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Gravity + Calculus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828800"/>
            <a:ext cx="25603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E0E8F0"/>
                </a:solidFill>
                <a:latin typeface="Calibri"/>
              </a:defRPr>
            </a:pPr>
            <a:r>
              <a:t>Prédiction + Économies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371600"/>
            <a:ext cx="2926080" cy="6858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1417320"/>
            <a:ext cx="2743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600200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Sir Izaac V1 +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28800"/>
            <a:ext cx="27432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900" b="0">
                <a:solidFill>
                  <a:srgbClr val="E0E8F0"/>
                </a:solidFill>
                <a:latin typeface="Calibri"/>
              </a:defRPr>
            </a:pPr>
            <a:r>
              <a:t>Chatbot complet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2468880"/>
            <a:ext cx="5486400" cy="457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08960" y="2514600"/>
            <a:ext cx="51206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3B82F6"/>
                </a:solidFill>
                <a:latin typeface="Calibri"/>
              </a:rPr>
              <a:t>Sir Izaac V0 </a:t>
            </a:r>
            <a:r>
              <a:rPr sz="1100" b="0">
                <a:solidFill>
                  <a:srgbClr val="475569"/>
                </a:solidFill>
                <a:latin typeface="Calibri"/>
              </a:rPr>
              <a:t>(en parallèle) — FAQ, support logiciel, navigation guidée — </a:t>
            </a:r>
            <a:r>
              <a:rPr sz="1100" b="1">
                <a:solidFill>
                  <a:srgbClr val="3B82F6"/>
                </a:solidFill>
                <a:latin typeface="Calibri"/>
              </a:rPr>
              <a:t>ne dépend pas du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331720"/>
            <a:ext cx="457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3B82F6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2918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291840"/>
            <a:ext cx="3474720" cy="54864"/>
          </a:xfrm>
          <a:prstGeom prst="rect">
            <a:avLst/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>
                <a:solidFill>
                  <a:srgbClr val="2EA06A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9776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2EA06A"/>
                </a:solidFill>
                <a:latin typeface="Calibri"/>
              </a:defRPr>
            </a:pPr>
            <a:r>
              <a:t>Valeur immédiate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43400"/>
            <a:ext cx="31089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Sherlock/Optica produisent des alertes automatiques dès la mise en service. L'energy manager voit la valeur de l'IA immédiatement, sans chatbot.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2918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34840" y="329184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720" y="34747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>
                <a:solidFill>
                  <a:srgbClr val="3B82F6"/>
                </a:solidFill>
                <a:latin typeface="Calibri"/>
              </a:defRPr>
            </a:pPr>
            <a:r>
              <a:t>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39776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Confiance progressive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4343400"/>
            <a:ext cx="31089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Les utilisateurs apprennent à faire confiance aux détections. Quand Sir Izaac V1 arrive, il s'appuie sur des modules déjà validés et crédibles.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329184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412480" y="3291840"/>
            <a:ext cx="3474720" cy="54864"/>
          </a:xfrm>
          <a:prstGeom prst="rect">
            <a:avLst/>
          </a:prstGeom>
          <a:solidFill>
            <a:srgbClr val="845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95360" y="34747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800" b="0">
                <a:solidFill>
                  <a:srgbClr val="845EC2"/>
                </a:solidFill>
                <a:latin typeface="Calibri"/>
              </a:defRPr>
            </a:pPr>
            <a:r>
              <a:t>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9776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500" b="1">
                <a:solidFill>
                  <a:srgbClr val="845EC2"/>
                </a:solidFill>
                <a:latin typeface="Calibri"/>
              </a:defRPr>
            </a:pPr>
            <a:r>
              <a:t>Effet "wow" maximal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343400"/>
            <a:ext cx="310896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Sir Izaac V1 arrive capable de détecter, prédire, chiffrer et afficher. L'utilisateur découvre un assistant complet dès le premier jour — pas un prototype limité.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 résumé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8288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828800" cy="1188720"/>
          </a:xfrm>
          <a:prstGeom prst="roundRect">
            <a:avLst>
              <a:gd name="adj" fmla="val 5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6459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Données</a:t>
            </a:r>
            <a:br/>
            <a:r>
              <a:t>propres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D0E0F0"/>
                </a:solidFill>
                <a:latin typeface="Calibri"/>
              </a:defRPr>
            </a:pPr>
            <a:r>
              <a:t>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331720"/>
            <a:ext cx="320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0">
                <a:solidFill>
                  <a:srgbClr val="5A7AA0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011680"/>
            <a:ext cx="1828800" cy="1188720"/>
          </a:xfrm>
          <a:prstGeom prst="roundRect">
            <a:avLst>
              <a:gd name="adj" fmla="val 5000"/>
            </a:avLst>
          </a:prstGeom>
          <a:solidFill>
            <a:srgbClr val="2E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2148840"/>
            <a:ext cx="16459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Signal</a:t>
            </a:r>
            <a:br/>
            <a:r>
              <a:t>intelligent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7432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D0E0F0"/>
                </a:solidFill>
                <a:latin typeface="Calibri"/>
              </a:defRPr>
            </a:pPr>
            <a:r>
              <a:t>Sherlock + Optica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331720"/>
            <a:ext cx="320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0">
                <a:solidFill>
                  <a:srgbClr val="5A7AA0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011680"/>
            <a:ext cx="1828800" cy="1188720"/>
          </a:xfrm>
          <a:prstGeom prst="roundRect">
            <a:avLst>
              <a:gd name="adj" fmla="val 5000"/>
            </a:avLst>
          </a:prstGeom>
          <a:solidFill>
            <a:srgbClr val="F09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0" y="2148840"/>
            <a:ext cx="16459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Prédictions</a:t>
            </a:r>
            <a:br/>
            <a:r>
              <a:t>fiables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7432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D0E0F0"/>
                </a:solidFill>
                <a:latin typeface="Calibri"/>
              </a:defRPr>
            </a:pPr>
            <a:r>
              <a:t>Gravity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331720"/>
            <a:ext cx="320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0">
                <a:solidFill>
                  <a:srgbClr val="5A7AA0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011680"/>
            <a:ext cx="1828800" cy="118872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2148840"/>
            <a:ext cx="16459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Chatbot</a:t>
            </a:r>
            <a:br/>
            <a:r>
              <a:t>complet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7432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D0E0F0"/>
                </a:solidFill>
                <a:latin typeface="Calibri"/>
              </a:defRPr>
            </a:pPr>
            <a:r>
              <a:t>Sir Izaac 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31720"/>
            <a:ext cx="32004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2200" b="0">
                <a:solidFill>
                  <a:srgbClr val="5A7AA0"/>
                </a:solidFill>
                <a:latin typeface="Calibri"/>
              </a:defRPr>
            </a:pPr>
            <a: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2011680"/>
            <a:ext cx="1828800" cy="118872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2148840"/>
            <a:ext cx="16459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Visualisation</a:t>
            </a:r>
            <a:br/>
            <a:r>
              <a:t>contextuelle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743200"/>
            <a:ext cx="1645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000" b="0">
                <a:solidFill>
                  <a:srgbClr val="D0E0F0"/>
                </a:solidFill>
                <a:latin typeface="Calibri"/>
              </a:defRPr>
            </a:pPr>
            <a:r>
              <a:t>Vector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749039"/>
            <a:ext cx="10515600" cy="914400"/>
          </a:xfrm>
          <a:prstGeom prst="roundRect">
            <a:avLst>
              <a:gd name="adj" fmla="val 5000"/>
            </a:avLst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3886199"/>
            <a:ext cx="978408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500" b="1" dirty="0" err="1">
                <a:solidFill>
                  <a:srgbClr val="FFFFFF"/>
                </a:solidFill>
                <a:latin typeface="Calibri"/>
              </a:rPr>
              <a:t>Chaque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brique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ajoutée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s'appuie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sur des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fondations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solides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.
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L'ordre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retenu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garantit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que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 la première impression 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utilisateur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 est positive, et 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que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 le chatbot, 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quand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 il arrive, est 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réellement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 intelligent — pas 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juste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A0B8D8"/>
                </a:solidFill>
                <a:latin typeface="Calibri"/>
              </a:rPr>
              <a:t>conversationnel</a:t>
            </a:r>
            <a:r>
              <a:rPr sz="1300" b="0" dirty="0">
                <a:solidFill>
                  <a:srgbClr val="A0B8D8"/>
                </a:solidFill>
                <a:latin typeface="Calibri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8A9EBE"/>
                </a:solidFill>
                <a:latin typeface="Calibri"/>
              </a:defRPr>
            </a:pPr>
            <a:r>
              <a:t>L'idée de commencer par le chatbot est naturelle : c'est ce que l'utilisateur voit.</a:t>
            </a:r>
            <a:br/>
            <a:r>
              <a:t>Mais un chatbot intelligent n'est intelligent que grâce à ce qu'il appelle derrière lui.</a:t>
            </a:r>
            <a:br/>
            <a:r>
              <a:t>Sans signal, sans prédiction, sans chiffrage — Sir Izaac n'a rien d'intelligent à dire.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698</Words>
  <Application>Microsoft Office PowerPoint</Application>
  <PresentationFormat>Grand écran</PresentationFormat>
  <Paragraphs>124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Paul Fricoteaux</cp:lastModifiedBy>
  <cp:revision>1</cp:revision>
  <dcterms:created xsi:type="dcterms:W3CDTF">2013-01-27T09:14:16Z</dcterms:created>
  <dcterms:modified xsi:type="dcterms:W3CDTF">2026-03-19T08:41:32Z</dcterms:modified>
  <cp:category/>
</cp:coreProperties>
</file>